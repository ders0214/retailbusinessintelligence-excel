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ADLaM Display"/>
      <p:regular r:id="rId13"/>
    </p:embeddedFont>
    <p:embeddedFont>
      <p:font typeface="Montserrat"/>
      <p:regular r:id="rId14"/>
      <p:bold r:id="rId15"/>
      <p:italic r:id="rId16"/>
      <p:boldItalic r:id="rId17"/>
    </p:embeddedFont>
    <p:embeddedFont>
      <p:font typeface="Sorts Mill Goudy"/>
      <p:regular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DLaMDisplay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SortsMillGoud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SortsMillGoud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733ba5132_2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7733ba5132_2_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7733ba5132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7733ba5132_2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733ba5132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7733ba5132_2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4ac16e32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64ac16e32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4ac16e3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64ac16e32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733ba5132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733ba5132_2_1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580400" y="822724"/>
            <a:ext cx="5983200" cy="156427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2412000" y="2959328"/>
            <a:ext cx="4320000" cy="13745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i="0" sz="1800"/>
            </a:lvl1pPr>
            <a:lvl2pPr lvl="1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sz="1500"/>
            </a:lvl2pPr>
            <a:lvl3pPr lvl="2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/>
            </a:lvl4pPr>
            <a:lvl5pPr lvl="4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4369500" y="2644330"/>
            <a:ext cx="4050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" name="Google Shape;64;p14"/>
          <p:cNvGrpSpPr/>
          <p:nvPr/>
        </p:nvGrpSpPr>
        <p:grpSpPr>
          <a:xfrm rot="2700000">
            <a:off x="7595770" y="3133680"/>
            <a:ext cx="475060" cy="1396604"/>
            <a:chOff x="5959192" y="333389"/>
            <a:chExt cx="633413" cy="1862138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5959192" y="333389"/>
                <a:ext cx="319088" cy="1419225"/>
              </a:xfrm>
              <a:custGeom>
                <a:rect b="b" l="l" r="r" t="t"/>
                <a:pathLst>
                  <a:path extrusionOk="0" h="298" w="67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7" name="Google Shape;67;p14"/>
              <p:cNvSpPr/>
              <p:nvPr/>
            </p:nvSpPr>
            <p:spPr>
              <a:xfrm>
                <a:off x="6278280" y="333389"/>
                <a:ext cx="314325" cy="1419225"/>
              </a:xfrm>
              <a:custGeom>
                <a:rect b="b" l="l" r="r" t="t"/>
                <a:pathLst>
                  <a:path extrusionOk="0" h="298" w="66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cxnSp>
          <p:nvCxnSpPr>
            <p:cNvPr id="68" name="Google Shape;68;p14"/>
            <p:cNvCxnSpPr/>
            <p:nvPr/>
          </p:nvCxnSpPr>
          <p:spPr>
            <a:xfrm rot="10800000">
              <a:off x="6278280" y="333389"/>
              <a:ext cx="0" cy="1862138"/>
            </a:xfrm>
            <a:prstGeom prst="straightConnector1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742050" y="1264444"/>
            <a:ext cx="7659900" cy="30301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742500" y="1729350"/>
            <a:ext cx="3477600" cy="16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orts Mill Goud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4923938" y="1729350"/>
            <a:ext cx="3477600" cy="16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i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venir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1077852" y="486978"/>
            <a:ext cx="255311" cy="255311"/>
          </a:xfrm>
          <a:prstGeom prst="ellipse">
            <a:avLst/>
          </a:prstGeom>
          <a:gradFill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9803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 rot="10800000">
            <a:off x="809625" y="732436"/>
            <a:ext cx="693293" cy="783985"/>
            <a:chOff x="6200905" y="2967038"/>
            <a:chExt cx="924390" cy="1045314"/>
          </a:xfrm>
        </p:grpSpPr>
        <p:grpSp>
          <p:nvGrpSpPr>
            <p:cNvPr id="83" name="Google Shape;83;p16"/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84" name="Google Shape;84;p16"/>
              <p:cNvSpPr/>
              <p:nvPr/>
            </p:nvSpPr>
            <p:spPr>
              <a:xfrm>
                <a:off x="6808136" y="2967038"/>
                <a:ext cx="159772" cy="710627"/>
              </a:xfrm>
              <a:custGeom>
                <a:rect b="b" l="l" r="r" t="t"/>
                <a:pathLst>
                  <a:path extrusionOk="0" h="298" w="67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6967908" y="2967038"/>
                <a:ext cx="157387" cy="710627"/>
              </a:xfrm>
              <a:custGeom>
                <a:rect b="b" l="l" r="r" t="t"/>
                <a:pathLst>
                  <a:path extrusionOk="0" h="298" w="66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86" name="Google Shape;86;p16"/>
              <p:cNvCxnSpPr/>
              <p:nvPr/>
            </p:nvCxnSpPr>
            <p:spPr>
              <a:xfrm rot="10800000">
                <a:off x="6967908" y="2967038"/>
                <a:ext cx="0" cy="9324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87" name="Google Shape;87;p16"/>
            <p:cNvGrpSpPr/>
            <p:nvPr/>
          </p:nvGrpSpPr>
          <p:grpSpPr>
            <a:xfrm flipH="1" rot="-2700000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88" name="Google Shape;88;p16"/>
              <p:cNvSpPr/>
              <p:nvPr/>
            </p:nvSpPr>
            <p:spPr>
              <a:xfrm>
                <a:off x="6808136" y="2967038"/>
                <a:ext cx="159772" cy="710627"/>
              </a:xfrm>
              <a:custGeom>
                <a:rect b="b" l="l" r="r" t="t"/>
                <a:pathLst>
                  <a:path extrusionOk="0" h="298" w="67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9" name="Google Shape;89;p16"/>
              <p:cNvSpPr/>
              <p:nvPr/>
            </p:nvSpPr>
            <p:spPr>
              <a:xfrm>
                <a:off x="6967908" y="2967038"/>
                <a:ext cx="157387" cy="710627"/>
              </a:xfrm>
              <a:custGeom>
                <a:rect b="b" l="l" r="r" t="t"/>
                <a:pathLst>
                  <a:path extrusionOk="0" h="298" w="66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9803"/>
                    </a:srgbClr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90" name="Google Shape;90;p16"/>
              <p:cNvCxnSpPr/>
              <p:nvPr/>
            </p:nvCxnSpPr>
            <p:spPr>
              <a:xfrm rot="10800000">
                <a:off x="6967908" y="2967038"/>
                <a:ext cx="0" cy="9324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cxnSp>
        <p:nvCxnSpPr>
          <p:cNvPr id="91" name="Google Shape;91;p16"/>
          <p:cNvCxnSpPr/>
          <p:nvPr/>
        </p:nvCxnSpPr>
        <p:spPr>
          <a:xfrm rot="5400000">
            <a:off x="4369500" y="2571751"/>
            <a:ext cx="4050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742050" y="1264444"/>
            <a:ext cx="3696300" cy="30694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705652" y="1264444"/>
            <a:ext cx="3696300" cy="306943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742049" y="1302549"/>
            <a:ext cx="3696300" cy="4964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0" sz="1200" cap="none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b="1" sz="1500"/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b="1" sz="1200"/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742050" y="1823442"/>
            <a:ext cx="3696300" cy="25104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4705650" y="1302549"/>
            <a:ext cx="36963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 b="0" sz="1200" cap="none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b="1" sz="1500"/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Font typeface="Avenir"/>
              <a:buNone/>
              <a:defRPr b="1" sz="1200"/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705650" y="1823443"/>
            <a:ext cx="3696300" cy="25104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742501" y="716756"/>
            <a:ext cx="2648700" cy="103874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rts Mill Goudy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083638" y="661988"/>
            <a:ext cx="4320000" cy="367188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2400"/>
              <a:buChar char="·"/>
              <a:defRPr sz="24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venir"/>
              <a:buNone/>
              <a:defRPr sz="2100"/>
            </a:lvl2pPr>
            <a:lvl3pPr indent="-3429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Char char="·"/>
              <a:defRPr sz="1800"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venir"/>
              <a:buNone/>
              <a:defRPr sz="1500"/>
            </a:lvl4pPr>
            <a:lvl5pPr indent="-32385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500"/>
              <a:buChar char="·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1"/>
          <p:cNvSpPr txBox="1"/>
          <p:nvPr>
            <p:ph idx="2" type="body"/>
          </p:nvPr>
        </p:nvSpPr>
        <p:spPr>
          <a:xfrm>
            <a:off x="742051" y="1938569"/>
            <a:ext cx="2648700" cy="2395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  <a:defRPr sz="1100"/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Avenir"/>
              <a:buNone/>
              <a:defRPr sz="800"/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1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cxnSp>
        <p:nvCxnSpPr>
          <p:cNvPr id="124" name="Google Shape;124;p21"/>
          <p:cNvCxnSpPr/>
          <p:nvPr/>
        </p:nvCxnSpPr>
        <p:spPr>
          <a:xfrm>
            <a:off x="3734991" y="405000"/>
            <a:ext cx="0" cy="4333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742500" y="716592"/>
            <a:ext cx="2648700" cy="1038746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rts Mill Goudy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2"/>
          <p:cNvSpPr/>
          <p:nvPr>
            <p:ph idx="2" type="pic"/>
          </p:nvPr>
        </p:nvSpPr>
        <p:spPr>
          <a:xfrm>
            <a:off x="4152900" y="405001"/>
            <a:ext cx="4586288" cy="3928875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742500" y="1938569"/>
            <a:ext cx="2648700" cy="2463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venir"/>
              <a:buNone/>
              <a:defRPr sz="1100"/>
            </a:lvl2pPr>
            <a:lvl3pPr indent="-2286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Font typeface="Avenir"/>
              <a:buNone/>
              <a:defRPr sz="800"/>
            </a:lvl4pPr>
            <a:lvl5pPr indent="-2286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2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cxnSp>
        <p:nvCxnSpPr>
          <p:cNvPr id="132" name="Google Shape;132;p22"/>
          <p:cNvCxnSpPr/>
          <p:nvPr/>
        </p:nvCxnSpPr>
        <p:spPr>
          <a:xfrm>
            <a:off x="3734991" y="405000"/>
            <a:ext cx="0" cy="433350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3056928" y="-1050435"/>
            <a:ext cx="3030143" cy="7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Char char="·"/>
              <a:defRPr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indent="-317500" lvl="2" marL="13716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3pPr>
            <a:lvl4pPr indent="-228600" lvl="3" marL="18288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indent="-317500" lvl="4" marL="22860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400"/>
              <a:buChar char="·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42050" y="296467"/>
            <a:ext cx="7659900" cy="83462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ts Mill Goudy"/>
              <a:buNone/>
              <a:defRPr b="0" i="0" sz="24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42050" y="1264444"/>
            <a:ext cx="7659900" cy="303014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b="0" i="0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venir"/>
              <a:buNone/>
              <a:defRPr b="0" i="1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23850" lvl="2" marL="13716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b="0" i="0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nir"/>
              <a:buNone/>
              <a:defRPr b="0" i="1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23850" lvl="4" marL="22860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Noto Sans Symbols"/>
              <a:buChar char="·"/>
              <a:defRPr b="0" i="0" sz="1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37500" y="4767876"/>
            <a:ext cx="1320113" cy="346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065734" y="4768200"/>
            <a:ext cx="5012532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487100" y="4768200"/>
            <a:ext cx="1320113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dk1"/>
                </a:solidFill>
                <a:latin typeface="Sorts Mill Goudy"/>
                <a:ea typeface="Sorts Mill Goudy"/>
                <a:cs typeface="Sorts Mill Goudy"/>
                <a:sym typeface="Sorts Mill Goud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25850" y="-25850"/>
            <a:ext cx="9169850" cy="92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1" type="subTitle"/>
          </p:nvPr>
        </p:nvSpPr>
        <p:spPr>
          <a:xfrm>
            <a:off x="511300" y="1342245"/>
            <a:ext cx="3561000" cy="1425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s-419" sz="3600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Retail Business </a:t>
            </a:r>
            <a:r>
              <a:rPr b="1" lang="es-419" sz="4500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Int</a:t>
            </a: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Jhon Ponce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431800" lvl="0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David Ramírez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431800" lvl="0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Frederick Figueroa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 sz="3000">
                <a:latin typeface="Times New Roman"/>
                <a:ea typeface="Times New Roman"/>
                <a:cs typeface="Times New Roman"/>
                <a:sym typeface="Times New Roman"/>
              </a:rPr>
              <a:t>Miguel Olalla</a:t>
            </a:r>
            <a:r>
              <a:rPr b="1" lang="es-419" sz="4500">
                <a:solidFill>
                  <a:schemeClr val="lt1"/>
                </a:solidFill>
                <a:latin typeface="ADLaM Display"/>
                <a:ea typeface="ADLaM Display"/>
                <a:cs typeface="ADLaM Display"/>
                <a:sym typeface="ADLaM Display"/>
              </a:rPr>
              <a:t>elligence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0" name="Google Shape;150;p25"/>
          <p:cNvCxnSpPr/>
          <p:nvPr/>
        </p:nvCxnSpPr>
        <p:spPr>
          <a:xfrm>
            <a:off x="6661327" y="2768153"/>
            <a:ext cx="40500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25"/>
          <p:cNvSpPr txBox="1"/>
          <p:nvPr/>
        </p:nvSpPr>
        <p:spPr>
          <a:xfrm>
            <a:off x="4857011" y="1382963"/>
            <a:ext cx="40137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Integrantes Grupo #9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31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Ponce</a:t>
            </a:r>
            <a:endParaRPr sz="1100"/>
          </a:p>
          <a:p>
            <a:pPr indent="-431800" lvl="0" marL="431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David Ramírez</a:t>
            </a:r>
            <a:endParaRPr sz="1100"/>
          </a:p>
          <a:p>
            <a:pPr indent="-431800" lvl="0" marL="431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Frederick Figueroa</a:t>
            </a:r>
            <a:endParaRPr sz="1100"/>
          </a:p>
          <a:p>
            <a:pPr indent="-431800" lvl="0" marL="431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Miguel Olalla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31800" lvl="0" marL="431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</a:pPr>
            <a:r>
              <a:rPr lang="es-419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Luis Jara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5" title="Miniatura de YouTube Análisis de datos Fotografía Azul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7350" y="-18942"/>
            <a:ext cx="9211351" cy="518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81375"/>
            <a:ext cx="9144002" cy="3657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962" y="929675"/>
            <a:ext cx="6838076" cy="42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2850"/>
            <a:ext cx="9143999" cy="420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050" y="1280875"/>
            <a:ext cx="5142201" cy="356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95" y="1404450"/>
            <a:ext cx="4572000" cy="331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742050" y="836034"/>
            <a:ext cx="76599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ts Mill Goudy"/>
              <a:buNone/>
            </a:pPr>
            <a:r>
              <a:rPr b="1" lang="es-419">
                <a:latin typeface="Montserrat"/>
                <a:ea typeface="Montserrat"/>
                <a:cs typeface="Montserrat"/>
                <a:sym typeface="Montserrat"/>
              </a:rPr>
              <a:t>Conclusiones del Análisis Comercial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621450" y="1984575"/>
            <a:ext cx="7901100" cy="28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696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2018: Año récord de ventas</a:t>
            </a:r>
            <a:br>
              <a:rPr b="1" lang="es-419" sz="1234">
                <a:latin typeface="Montserrat"/>
                <a:ea typeface="Montserrat"/>
                <a:cs typeface="Montserrat"/>
                <a:sym typeface="Montserrat"/>
              </a:rPr>
            </a:br>
            <a:endParaRPr i="0" sz="1234">
              <a:latin typeface="Montserrat"/>
              <a:ea typeface="Montserrat"/>
              <a:cs typeface="Montserrat"/>
              <a:sym typeface="Montserrat"/>
            </a:endParaRPr>
          </a:p>
          <a:p>
            <a:pPr indent="-3069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Región</a:t>
            </a: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 Centro lidera las ventas</a:t>
            </a:r>
            <a:br>
              <a:rPr b="1" lang="es-419" sz="1234">
                <a:latin typeface="Montserrat"/>
                <a:ea typeface="Montserrat"/>
                <a:cs typeface="Montserrat"/>
                <a:sym typeface="Montserrat"/>
              </a:rPr>
            </a:br>
            <a:endParaRPr i="0" sz="1234">
              <a:latin typeface="Montserrat"/>
              <a:ea typeface="Montserrat"/>
              <a:cs typeface="Montserrat"/>
              <a:sym typeface="Montserrat"/>
            </a:endParaRPr>
          </a:p>
          <a:p>
            <a:pPr indent="-3069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Equilibrio entre canales de venta</a:t>
            </a:r>
            <a:br>
              <a:rPr b="1" lang="es-419" sz="1234">
                <a:latin typeface="Montserrat"/>
                <a:ea typeface="Montserrat"/>
                <a:cs typeface="Montserrat"/>
                <a:sym typeface="Montserrat"/>
              </a:rPr>
            </a:br>
            <a:endParaRPr sz="1234">
              <a:latin typeface="Montserrat"/>
              <a:ea typeface="Montserrat"/>
              <a:cs typeface="Montserrat"/>
              <a:sym typeface="Montserrat"/>
            </a:endParaRPr>
          </a:p>
          <a:p>
            <a:pPr indent="-3069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Producto con mayor devolución: </a:t>
            </a:r>
            <a:r>
              <a:rPr b="1" i="1" lang="es-419" sz="1234">
                <a:latin typeface="Montserrat"/>
                <a:ea typeface="Montserrat"/>
                <a:cs typeface="Montserrat"/>
                <a:sym typeface="Montserrat"/>
              </a:rPr>
              <a:t>Commodi</a:t>
            </a:r>
            <a:br>
              <a:rPr b="1" i="1" lang="es-419" sz="1234">
                <a:latin typeface="Montserrat"/>
                <a:ea typeface="Montserrat"/>
                <a:cs typeface="Montserrat"/>
                <a:sym typeface="Montserrat"/>
              </a:rPr>
            </a:br>
            <a:endParaRPr i="0" sz="1234">
              <a:latin typeface="Montserrat"/>
              <a:ea typeface="Montserrat"/>
              <a:cs typeface="Montserrat"/>
              <a:sym typeface="Montserrat"/>
            </a:endParaRPr>
          </a:p>
          <a:p>
            <a:pPr indent="-3069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34"/>
              <a:buFont typeface="Montserrat"/>
              <a:buChar char="-"/>
            </a:pPr>
            <a:r>
              <a:rPr b="1" lang="es-419" sz="1234">
                <a:latin typeface="Montserrat"/>
                <a:ea typeface="Montserrat"/>
                <a:cs typeface="Montserrat"/>
                <a:sym typeface="Montserrat"/>
              </a:rPr>
              <a:t>Motivo principal de devolución: Tamaño inadecuado</a:t>
            </a:r>
            <a:br>
              <a:rPr b="1" lang="es-419" sz="1234">
                <a:latin typeface="Montserrat"/>
                <a:ea typeface="Montserrat"/>
                <a:cs typeface="Montserrat"/>
                <a:sym typeface="Montserrat"/>
              </a:rPr>
            </a:br>
            <a:endParaRPr i="0" sz="123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i="0" sz="740">
              <a:latin typeface="Montserrat"/>
              <a:ea typeface="Montserrat"/>
              <a:cs typeface="Montserrat"/>
              <a:sym typeface="Montserrat"/>
            </a:endParaRPr>
          </a:p>
          <a:p>
            <a:pPr indent="-165100" lvl="0" marL="2667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600"/>
              <a:buNone/>
            </a:pPr>
            <a:r>
              <a:t/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rostyVTI">
  <a:themeElements>
    <a:clrScheme name="Frosty">
      <a:dk1>
        <a:srgbClr val="000000"/>
      </a:dk1>
      <a:lt1>
        <a:srgbClr val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